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2" r:id="rId5"/>
    <p:sldId id="285" r:id="rId6"/>
    <p:sldId id="283" r:id="rId7"/>
    <p:sldId id="284" r:id="rId8"/>
    <p:sldId id="28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hyperlink" Target="https://en.wikipedia.org/wiki/Software_component" TargetMode="External"/><Relationship Id="rId2" Type="http://schemas.openxmlformats.org/officeDocument/2006/relationships/hyperlink" Target="https://en.wikipedia.org/wiki/Java_(programming_language)" TargetMode="External"/><Relationship Id="rId1" Type="http://schemas.openxmlformats.org/officeDocument/2006/relationships/hyperlink" Target="https://en.wikipedia.org/wiki/Integrated_development_environment"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en.wikipedia.org/wiki/Software_component" TargetMode="External"/><Relationship Id="rId2" Type="http://schemas.openxmlformats.org/officeDocument/2006/relationships/hyperlink" Target="https://en.wikipedia.org/wiki/Java_(programming_language)" TargetMode="External"/><Relationship Id="rId1" Type="http://schemas.openxmlformats.org/officeDocument/2006/relationships/hyperlink" Target="https://en.wikipedia.org/wiki/Integrated_development_environment" TargetMode="Externa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317A65-8390-4E3C-8A24-9C1005BCEABA}" type="doc">
      <dgm:prSet loTypeId="urn:microsoft.com/office/officeart/2016/7/layout/HexagonTimeline" loCatId="process" qsTypeId="urn:microsoft.com/office/officeart/2005/8/quickstyle/3d2" qsCatId="3D" csTypeId="urn:microsoft.com/office/officeart/2005/8/colors/accent3_2" csCatId="accent3" phldr="1"/>
      <dgm:spPr/>
      <dgm:t>
        <a:bodyPr/>
        <a:lstStyle/>
        <a:p>
          <a:endParaRPr lang="en-US"/>
        </a:p>
      </dgm:t>
    </dgm:pt>
    <dgm:pt modelId="{01B965F8-E325-43B3-80B3-B9D1E0388BA4}">
      <dgm:prSet/>
      <dgm:spPr/>
      <dgm:t>
        <a:bodyPr/>
        <a:lstStyle/>
        <a:p>
          <a:r>
            <a:rPr lang="en-US" b="1" dirty="0"/>
            <a:t>NetBeans IDE</a:t>
          </a:r>
        </a:p>
      </dgm:t>
    </dgm:pt>
    <dgm:pt modelId="{54BC3EB5-4779-4295-B263-A5EE4BC01C72}" type="parTrans" cxnId="{AE30458B-DAD5-4515-A0A8-7AF405483E95}">
      <dgm:prSet/>
      <dgm:spPr/>
      <dgm:t>
        <a:bodyPr/>
        <a:lstStyle/>
        <a:p>
          <a:endParaRPr lang="en-US"/>
        </a:p>
      </dgm:t>
    </dgm:pt>
    <dgm:pt modelId="{D9FB109A-2592-4A30-94DA-80D89CA21E17}" type="sibTrans" cxnId="{AE30458B-DAD5-4515-A0A8-7AF405483E95}">
      <dgm:prSet/>
      <dgm:spPr/>
      <dgm:t>
        <a:bodyPr/>
        <a:lstStyle/>
        <a:p>
          <a:endParaRPr lang="en-US"/>
        </a:p>
      </dgm:t>
    </dgm:pt>
    <dgm:pt modelId="{D456CB0D-7FD2-4EF8-BAE5-7BB68CBD569C}">
      <dgm:prSet/>
      <dgm:spPr/>
      <dgm:t>
        <a:bodyPr/>
        <a:lstStyle/>
        <a:p>
          <a:r>
            <a:rPr lang="en-US" b="1" i="0" dirty="0"/>
            <a:t>NetBeans is an </a:t>
          </a:r>
          <a:r>
            <a:rPr lang="en-US" b="1" i="0" dirty="0">
              <a:hlinkClick xmlns:r="http://schemas.openxmlformats.org/officeDocument/2006/relationships" r:id="rId1" tooltip="Integrated development environment">
                <a:extLst>
                  <a:ext uri="{A12FA001-AC4F-418D-AE19-62706E023703}">
                    <ahyp:hlinkClr xmlns:ahyp="http://schemas.microsoft.com/office/drawing/2018/hyperlinkcolor" val="tx"/>
                  </a:ext>
                </a:extLst>
              </a:hlinkClick>
            </a:rPr>
            <a:t>integrated development environment</a:t>
          </a:r>
          <a:r>
            <a:rPr lang="en-US" b="1" i="0" dirty="0"/>
            <a:t> (IDE) for </a:t>
          </a:r>
          <a:r>
            <a:rPr lang="en-US" b="1" i="0" dirty="0">
              <a:hlinkClick xmlns:r="http://schemas.openxmlformats.org/officeDocument/2006/relationships" r:id="rId2" tooltip="Java (programming language)">
                <a:extLst>
                  <a:ext uri="{A12FA001-AC4F-418D-AE19-62706E023703}">
                    <ahyp:hlinkClr xmlns:ahyp="http://schemas.microsoft.com/office/drawing/2018/hyperlinkcolor" val="tx"/>
                  </a:ext>
                </a:extLst>
              </a:hlinkClick>
            </a:rPr>
            <a:t>Java</a:t>
          </a:r>
          <a:r>
            <a:rPr lang="en-US" b="1" i="0" dirty="0"/>
            <a:t>. </a:t>
          </a:r>
        </a:p>
        <a:p>
          <a:r>
            <a:rPr lang="en-US" b="1" i="0" dirty="0"/>
            <a:t>NetBeans allows applications to be developed from a set of modular </a:t>
          </a:r>
          <a:r>
            <a:rPr lang="en-US" b="1" i="0" dirty="0">
              <a:hlinkClick xmlns:r="http://schemas.openxmlformats.org/officeDocument/2006/relationships" r:id="rId3" tooltip="Software component">
                <a:extLst>
                  <a:ext uri="{A12FA001-AC4F-418D-AE19-62706E023703}">
                    <ahyp:hlinkClr xmlns:ahyp="http://schemas.microsoft.com/office/drawing/2018/hyperlinkcolor" val="tx"/>
                  </a:ext>
                </a:extLst>
              </a:hlinkClick>
            </a:rPr>
            <a:t>software components</a:t>
          </a:r>
          <a:r>
            <a:rPr lang="en-US" b="1" i="0" dirty="0"/>
            <a:t> called </a:t>
          </a:r>
          <a:r>
            <a:rPr lang="en-US" b="1" i="1" dirty="0"/>
            <a:t>modules. We will use</a:t>
          </a:r>
          <a:r>
            <a:rPr lang="en-US" b="1" dirty="0"/>
            <a:t> inbuilt Java Web Application</a:t>
          </a:r>
        </a:p>
      </dgm:t>
    </dgm:pt>
    <dgm:pt modelId="{2CA6D229-346F-4A50-9D72-6871FD9014D2}" type="parTrans" cxnId="{DCC756BF-8846-411D-A43A-9DCD497855F5}">
      <dgm:prSet/>
      <dgm:spPr/>
      <dgm:t>
        <a:bodyPr/>
        <a:lstStyle/>
        <a:p>
          <a:endParaRPr lang="en-US"/>
        </a:p>
      </dgm:t>
    </dgm:pt>
    <dgm:pt modelId="{89661896-A979-48DD-8B17-88222238DBD0}" type="sibTrans" cxnId="{DCC756BF-8846-411D-A43A-9DCD497855F5}">
      <dgm:prSet/>
      <dgm:spPr/>
      <dgm:t>
        <a:bodyPr/>
        <a:lstStyle/>
        <a:p>
          <a:endParaRPr lang="en-US"/>
        </a:p>
      </dgm:t>
    </dgm:pt>
    <dgm:pt modelId="{E25CB8D7-2E39-4D62-85A9-BEB48A46DBE6}">
      <dgm:prSet/>
      <dgm:spPr/>
      <dgm:t>
        <a:bodyPr/>
        <a:lstStyle/>
        <a:p>
          <a:r>
            <a:rPr lang="en-US" b="1" dirty="0"/>
            <a:t>WampServer MySQL Database</a:t>
          </a:r>
        </a:p>
      </dgm:t>
    </dgm:pt>
    <dgm:pt modelId="{864BA4B8-618E-4E49-A6C4-E31689422AD4}" type="parTrans" cxnId="{F4C8ED5B-F2B8-499C-B1A5-085EC230F845}">
      <dgm:prSet/>
      <dgm:spPr/>
      <dgm:t>
        <a:bodyPr/>
        <a:lstStyle/>
        <a:p>
          <a:endParaRPr lang="en-US"/>
        </a:p>
      </dgm:t>
    </dgm:pt>
    <dgm:pt modelId="{6EF84E7B-CD53-49F5-9901-898CB2DB0284}" type="sibTrans" cxnId="{F4C8ED5B-F2B8-499C-B1A5-085EC230F845}">
      <dgm:prSet/>
      <dgm:spPr/>
      <dgm:t>
        <a:bodyPr/>
        <a:lstStyle/>
        <a:p>
          <a:endParaRPr lang="en-US"/>
        </a:p>
      </dgm:t>
    </dgm:pt>
    <dgm:pt modelId="{FEA0EDC1-022C-43AF-809A-43A91E8CBF17}">
      <dgm:prSet/>
      <dgm:spPr/>
      <dgm:t>
        <a:bodyPr/>
        <a:lstStyle/>
        <a:p>
          <a:r>
            <a:rPr lang="en-US" b="1" i="0" dirty="0"/>
            <a:t>MySQL is an open-source relational database management system.</a:t>
          </a:r>
          <a:r>
            <a:rPr lang="en-US" b="1" dirty="0"/>
            <a:t> </a:t>
          </a:r>
          <a:r>
            <a:rPr lang="en-US" b="1" i="0" dirty="0"/>
            <a:t>With PHP, you can connect to and manipulate databases.</a:t>
          </a:r>
          <a:endParaRPr lang="en-US" b="1" dirty="0"/>
        </a:p>
      </dgm:t>
    </dgm:pt>
    <dgm:pt modelId="{559973B4-D0F4-4A49-A038-9D777A950745}" type="parTrans" cxnId="{3CE090A0-12C1-4496-AFA5-7B8A87A738BD}">
      <dgm:prSet/>
      <dgm:spPr/>
      <dgm:t>
        <a:bodyPr/>
        <a:lstStyle/>
        <a:p>
          <a:endParaRPr lang="en-US"/>
        </a:p>
      </dgm:t>
    </dgm:pt>
    <dgm:pt modelId="{07076A80-BF1A-4A31-9612-2DC93C15CE8D}" type="sibTrans" cxnId="{3CE090A0-12C1-4496-AFA5-7B8A87A738BD}">
      <dgm:prSet/>
      <dgm:spPr/>
      <dgm:t>
        <a:bodyPr/>
        <a:lstStyle/>
        <a:p>
          <a:endParaRPr lang="en-US"/>
        </a:p>
      </dgm:t>
    </dgm:pt>
    <dgm:pt modelId="{A4F508A8-E25F-49B2-95E3-B4407B7C6605}">
      <dgm:prSet/>
      <dgm:spPr/>
      <dgm:t>
        <a:bodyPr/>
        <a:lstStyle/>
        <a:p>
          <a:r>
            <a:rPr lang="en-US" b="1" i="0" dirty="0"/>
            <a:t>MySQL is the most popular database system used with PHP.</a:t>
          </a:r>
        </a:p>
      </dgm:t>
    </dgm:pt>
    <dgm:pt modelId="{CA6A4A2D-76DF-4B09-97D2-5A020FAED4B4}" type="parTrans" cxnId="{E14F4C8F-6152-4BF9-9CE2-8EEE55A1EDCF}">
      <dgm:prSet/>
      <dgm:spPr/>
      <dgm:t>
        <a:bodyPr/>
        <a:lstStyle/>
        <a:p>
          <a:endParaRPr lang="en-IN"/>
        </a:p>
      </dgm:t>
    </dgm:pt>
    <dgm:pt modelId="{ECBB3FA2-BFC6-4F3F-A007-E4B70E1017A8}" type="sibTrans" cxnId="{E14F4C8F-6152-4BF9-9CE2-8EEE55A1EDCF}">
      <dgm:prSet/>
      <dgm:spPr/>
      <dgm:t>
        <a:bodyPr/>
        <a:lstStyle/>
        <a:p>
          <a:endParaRPr lang="en-IN"/>
        </a:p>
      </dgm:t>
    </dgm:pt>
    <dgm:pt modelId="{C3EF5E8B-6DBA-4CB7-B2EE-E15846140264}">
      <dgm:prSet/>
      <dgm:spPr/>
      <dgm:t>
        <a:bodyPr/>
        <a:lstStyle/>
        <a:p>
          <a:endParaRPr lang="en-IN" dirty="0"/>
        </a:p>
      </dgm:t>
    </dgm:pt>
    <dgm:pt modelId="{6C3FB5B6-D8DA-4214-A591-7AEBB9F1B6B1}" type="parTrans" cxnId="{8A6B0A53-DEDA-44FC-9FD7-B0D71BD470EF}">
      <dgm:prSet/>
      <dgm:spPr/>
      <dgm:t>
        <a:bodyPr/>
        <a:lstStyle/>
        <a:p>
          <a:endParaRPr lang="en-IN"/>
        </a:p>
      </dgm:t>
    </dgm:pt>
    <dgm:pt modelId="{A3DEC058-C572-43F2-BCB5-7D4960BA3D18}" type="sibTrans" cxnId="{8A6B0A53-DEDA-44FC-9FD7-B0D71BD470EF}">
      <dgm:prSet/>
      <dgm:spPr/>
      <dgm:t>
        <a:bodyPr/>
        <a:lstStyle/>
        <a:p>
          <a:endParaRPr lang="en-IN"/>
        </a:p>
      </dgm:t>
    </dgm:pt>
    <dgm:pt modelId="{C8F25F9E-6B1C-40BE-81D8-31B97CE64E36}" type="pres">
      <dgm:prSet presAssocID="{05317A65-8390-4E3C-8A24-9C1005BCEABA}" presName="Name0" presStyleCnt="0">
        <dgm:presLayoutVars>
          <dgm:chMax/>
          <dgm:chPref/>
          <dgm:animLvl val="lvl"/>
        </dgm:presLayoutVars>
      </dgm:prSet>
      <dgm:spPr/>
    </dgm:pt>
    <dgm:pt modelId="{4F58C91C-FB1A-447A-97CF-21B61CB6E1BD}" type="pres">
      <dgm:prSet presAssocID="{01B965F8-E325-43B3-80B3-B9D1E0388BA4}" presName="composite" presStyleCnt="0"/>
      <dgm:spPr/>
    </dgm:pt>
    <dgm:pt modelId="{5DCCE6F8-4341-4646-A084-F3DC31275922}" type="pres">
      <dgm:prSet presAssocID="{01B965F8-E325-43B3-80B3-B9D1E0388BA4}" presName="Parent1" presStyleLbl="alignNode1" presStyleIdx="0" presStyleCnt="2">
        <dgm:presLayoutVars>
          <dgm:chMax val="1"/>
          <dgm:chPref val="1"/>
          <dgm:bulletEnabled val="1"/>
        </dgm:presLayoutVars>
      </dgm:prSet>
      <dgm:spPr/>
    </dgm:pt>
    <dgm:pt modelId="{D71B0C25-D16A-4FA5-B934-11CB1F2F3DC3}" type="pres">
      <dgm:prSet presAssocID="{01B965F8-E325-43B3-80B3-B9D1E0388BA4}" presName="Childtext1" presStyleLbl="revTx" presStyleIdx="0" presStyleCnt="2">
        <dgm:presLayoutVars>
          <dgm:chMax val="0"/>
          <dgm:chPref val="0"/>
          <dgm:bulletEnabled/>
        </dgm:presLayoutVars>
      </dgm:prSet>
      <dgm:spPr/>
    </dgm:pt>
    <dgm:pt modelId="{0F192616-A69A-44BA-A0BB-1FEC56024EF1}" type="pres">
      <dgm:prSet presAssocID="{01B965F8-E325-43B3-80B3-B9D1E0388BA4}" presName="ConnectLine" presStyleLbl="sibTrans1D1" presStyleIdx="0" presStyleCnt="2"/>
      <dgm:spPr>
        <a:noFill/>
        <a:ln w="12700" cap="rnd" cmpd="sng" algn="ctr">
          <a:solidFill>
            <a:schemeClr val="accent3">
              <a:hueOff val="0"/>
              <a:satOff val="0"/>
              <a:lumOff val="0"/>
              <a:alphaOff val="0"/>
            </a:schemeClr>
          </a:solidFill>
          <a:prstDash val="dash"/>
        </a:ln>
        <a:effectLst/>
      </dgm:spPr>
    </dgm:pt>
    <dgm:pt modelId="{C72818FE-5426-47CF-8217-593D962B2816}" type="pres">
      <dgm:prSet presAssocID="{01B965F8-E325-43B3-80B3-B9D1E0388BA4}" presName="ConnectLineEnd" presStyleLbl="node1" presStyleIdx="0" presStyleCnt="2"/>
      <dgm:spPr/>
    </dgm:pt>
    <dgm:pt modelId="{7E84F1D4-186F-49B7-9436-D8EEB352F101}" type="pres">
      <dgm:prSet presAssocID="{01B965F8-E325-43B3-80B3-B9D1E0388BA4}" presName="EmptyPane" presStyleCnt="0"/>
      <dgm:spPr/>
    </dgm:pt>
    <dgm:pt modelId="{CDDFF639-A5A5-4B69-9D4B-7FE3C8F95615}" type="pres">
      <dgm:prSet presAssocID="{D9FB109A-2592-4A30-94DA-80D89CA21E17}" presName="spaceBetweenRectangles" presStyleLbl="fgAcc1" presStyleIdx="0" presStyleCnt="1"/>
      <dgm:spPr/>
    </dgm:pt>
    <dgm:pt modelId="{71AC6B0B-6C83-4151-BEC5-501A956E93A4}" type="pres">
      <dgm:prSet presAssocID="{E25CB8D7-2E39-4D62-85A9-BEB48A46DBE6}" presName="composite" presStyleCnt="0"/>
      <dgm:spPr/>
    </dgm:pt>
    <dgm:pt modelId="{D7CFD748-515A-4C82-ABED-134EC9682E75}" type="pres">
      <dgm:prSet presAssocID="{E25CB8D7-2E39-4D62-85A9-BEB48A46DBE6}" presName="Parent1" presStyleLbl="alignNode1" presStyleIdx="1" presStyleCnt="2">
        <dgm:presLayoutVars>
          <dgm:chMax val="1"/>
          <dgm:chPref val="1"/>
          <dgm:bulletEnabled val="1"/>
        </dgm:presLayoutVars>
      </dgm:prSet>
      <dgm:spPr/>
    </dgm:pt>
    <dgm:pt modelId="{B94D21D0-2A8F-4CEE-A05D-23DA38BFDEB1}" type="pres">
      <dgm:prSet presAssocID="{E25CB8D7-2E39-4D62-85A9-BEB48A46DBE6}" presName="Childtext1" presStyleLbl="revTx" presStyleIdx="1" presStyleCnt="2">
        <dgm:presLayoutVars>
          <dgm:chMax val="0"/>
          <dgm:chPref val="0"/>
          <dgm:bulletEnabled/>
        </dgm:presLayoutVars>
      </dgm:prSet>
      <dgm:spPr/>
    </dgm:pt>
    <dgm:pt modelId="{45DC5BF2-7EA5-421C-9F58-176ED56B0D8F}" type="pres">
      <dgm:prSet presAssocID="{E25CB8D7-2E39-4D62-85A9-BEB48A46DBE6}" presName="ConnectLine" presStyleLbl="sibTrans1D1" presStyleIdx="1" presStyleCnt="2"/>
      <dgm:spPr>
        <a:noFill/>
        <a:ln w="12700" cap="rnd" cmpd="sng" algn="ctr">
          <a:solidFill>
            <a:schemeClr val="accent3">
              <a:hueOff val="0"/>
              <a:satOff val="0"/>
              <a:lumOff val="0"/>
              <a:alphaOff val="0"/>
            </a:schemeClr>
          </a:solidFill>
          <a:prstDash val="dash"/>
        </a:ln>
        <a:effectLst/>
      </dgm:spPr>
    </dgm:pt>
    <dgm:pt modelId="{C8B05CFD-58BC-4D28-A026-D2CDA45CA1B7}" type="pres">
      <dgm:prSet presAssocID="{E25CB8D7-2E39-4D62-85A9-BEB48A46DBE6}" presName="ConnectLineEnd" presStyleLbl="node1" presStyleIdx="1" presStyleCnt="2"/>
      <dgm:spPr/>
    </dgm:pt>
    <dgm:pt modelId="{0CC7D028-53D6-4C76-900C-964A0062F777}" type="pres">
      <dgm:prSet presAssocID="{E25CB8D7-2E39-4D62-85A9-BEB48A46DBE6}" presName="EmptyPane" presStyleCnt="0"/>
      <dgm:spPr/>
    </dgm:pt>
  </dgm:ptLst>
  <dgm:cxnLst>
    <dgm:cxn modelId="{6DEF721D-0173-4C32-B9C7-1064A8E3739A}" type="presOf" srcId="{C3EF5E8B-6DBA-4CB7-B2EE-E15846140264}" destId="{B94D21D0-2A8F-4CEE-A05D-23DA38BFDEB1}" srcOrd="0" destOrd="2" presId="urn:microsoft.com/office/officeart/2016/7/layout/HexagonTimeline"/>
    <dgm:cxn modelId="{5B89CE32-1571-43FE-ADC1-56FE9C70269D}" type="presOf" srcId="{01B965F8-E325-43B3-80B3-B9D1E0388BA4}" destId="{5DCCE6F8-4341-4646-A084-F3DC31275922}" srcOrd="0" destOrd="0" presId="urn:microsoft.com/office/officeart/2016/7/layout/HexagonTimeline"/>
    <dgm:cxn modelId="{B8A81A40-BC59-4555-B575-E297D963A15D}" type="presOf" srcId="{D456CB0D-7FD2-4EF8-BAE5-7BB68CBD569C}" destId="{D71B0C25-D16A-4FA5-B934-11CB1F2F3DC3}" srcOrd="0" destOrd="0" presId="urn:microsoft.com/office/officeart/2016/7/layout/HexagonTimeline"/>
    <dgm:cxn modelId="{F4C8ED5B-F2B8-499C-B1A5-085EC230F845}" srcId="{05317A65-8390-4E3C-8A24-9C1005BCEABA}" destId="{E25CB8D7-2E39-4D62-85A9-BEB48A46DBE6}" srcOrd="1" destOrd="0" parTransId="{864BA4B8-618E-4E49-A6C4-E31689422AD4}" sibTransId="{6EF84E7B-CD53-49F5-9901-898CB2DB0284}"/>
    <dgm:cxn modelId="{E4B1EF6D-D63B-4363-A777-9928BEA54EFF}" type="presOf" srcId="{A4F508A8-E25F-49B2-95E3-B4407B7C6605}" destId="{B94D21D0-2A8F-4CEE-A05D-23DA38BFDEB1}" srcOrd="0" destOrd="1" presId="urn:microsoft.com/office/officeart/2016/7/layout/HexagonTimeline"/>
    <dgm:cxn modelId="{165A9352-1B0F-47E8-88A9-D548BB479351}" type="presOf" srcId="{FEA0EDC1-022C-43AF-809A-43A91E8CBF17}" destId="{B94D21D0-2A8F-4CEE-A05D-23DA38BFDEB1}" srcOrd="0" destOrd="0" presId="urn:microsoft.com/office/officeart/2016/7/layout/HexagonTimeline"/>
    <dgm:cxn modelId="{8A6B0A53-DEDA-44FC-9FD7-B0D71BD470EF}" srcId="{E25CB8D7-2E39-4D62-85A9-BEB48A46DBE6}" destId="{C3EF5E8B-6DBA-4CB7-B2EE-E15846140264}" srcOrd="2" destOrd="0" parTransId="{6C3FB5B6-D8DA-4214-A591-7AEBB9F1B6B1}" sibTransId="{A3DEC058-C572-43F2-BCB5-7D4960BA3D18}"/>
    <dgm:cxn modelId="{51E16887-90AA-43B1-A622-B2F7807B3CE3}" type="presOf" srcId="{05317A65-8390-4E3C-8A24-9C1005BCEABA}" destId="{C8F25F9E-6B1C-40BE-81D8-31B97CE64E36}" srcOrd="0" destOrd="0" presId="urn:microsoft.com/office/officeart/2016/7/layout/HexagonTimeline"/>
    <dgm:cxn modelId="{AE30458B-DAD5-4515-A0A8-7AF405483E95}" srcId="{05317A65-8390-4E3C-8A24-9C1005BCEABA}" destId="{01B965F8-E325-43B3-80B3-B9D1E0388BA4}" srcOrd="0" destOrd="0" parTransId="{54BC3EB5-4779-4295-B263-A5EE4BC01C72}" sibTransId="{D9FB109A-2592-4A30-94DA-80D89CA21E17}"/>
    <dgm:cxn modelId="{E14F4C8F-6152-4BF9-9CE2-8EEE55A1EDCF}" srcId="{E25CB8D7-2E39-4D62-85A9-BEB48A46DBE6}" destId="{A4F508A8-E25F-49B2-95E3-B4407B7C6605}" srcOrd="1" destOrd="0" parTransId="{CA6A4A2D-76DF-4B09-97D2-5A020FAED4B4}" sibTransId="{ECBB3FA2-BFC6-4F3F-A007-E4B70E1017A8}"/>
    <dgm:cxn modelId="{3CE090A0-12C1-4496-AFA5-7B8A87A738BD}" srcId="{E25CB8D7-2E39-4D62-85A9-BEB48A46DBE6}" destId="{FEA0EDC1-022C-43AF-809A-43A91E8CBF17}" srcOrd="0" destOrd="0" parTransId="{559973B4-D0F4-4A49-A038-9D777A950745}" sibTransId="{07076A80-BF1A-4A31-9612-2DC93C15CE8D}"/>
    <dgm:cxn modelId="{D2DB33BF-C21E-482A-8D25-2B5A0606CD9E}" type="presOf" srcId="{E25CB8D7-2E39-4D62-85A9-BEB48A46DBE6}" destId="{D7CFD748-515A-4C82-ABED-134EC9682E75}" srcOrd="0" destOrd="0" presId="urn:microsoft.com/office/officeart/2016/7/layout/HexagonTimeline"/>
    <dgm:cxn modelId="{DCC756BF-8846-411D-A43A-9DCD497855F5}" srcId="{01B965F8-E325-43B3-80B3-B9D1E0388BA4}" destId="{D456CB0D-7FD2-4EF8-BAE5-7BB68CBD569C}" srcOrd="0" destOrd="0" parTransId="{2CA6D229-346F-4A50-9D72-6871FD9014D2}" sibTransId="{89661896-A979-48DD-8B17-88222238DBD0}"/>
    <dgm:cxn modelId="{D88FE23C-2633-4C19-9881-4F690D92EE67}" type="presParOf" srcId="{C8F25F9E-6B1C-40BE-81D8-31B97CE64E36}" destId="{4F58C91C-FB1A-447A-97CF-21B61CB6E1BD}" srcOrd="0" destOrd="0" presId="urn:microsoft.com/office/officeart/2016/7/layout/HexagonTimeline"/>
    <dgm:cxn modelId="{F0C2A06F-D4AF-4D16-8CE9-B002C133DE8D}" type="presParOf" srcId="{4F58C91C-FB1A-447A-97CF-21B61CB6E1BD}" destId="{5DCCE6F8-4341-4646-A084-F3DC31275922}" srcOrd="0" destOrd="0" presId="urn:microsoft.com/office/officeart/2016/7/layout/HexagonTimeline"/>
    <dgm:cxn modelId="{21CC5E01-6960-4BA8-81DD-DEF2104B3B86}" type="presParOf" srcId="{4F58C91C-FB1A-447A-97CF-21B61CB6E1BD}" destId="{D71B0C25-D16A-4FA5-B934-11CB1F2F3DC3}" srcOrd="1" destOrd="0" presId="urn:microsoft.com/office/officeart/2016/7/layout/HexagonTimeline"/>
    <dgm:cxn modelId="{C855D545-2C4C-48C0-88E5-D5BC9B2C5162}" type="presParOf" srcId="{4F58C91C-FB1A-447A-97CF-21B61CB6E1BD}" destId="{0F192616-A69A-44BA-A0BB-1FEC56024EF1}" srcOrd="2" destOrd="0" presId="urn:microsoft.com/office/officeart/2016/7/layout/HexagonTimeline"/>
    <dgm:cxn modelId="{19AEC4CB-9C25-4B7D-B74F-D9E6434C6B84}" type="presParOf" srcId="{4F58C91C-FB1A-447A-97CF-21B61CB6E1BD}" destId="{C72818FE-5426-47CF-8217-593D962B2816}" srcOrd="3" destOrd="0" presId="urn:microsoft.com/office/officeart/2016/7/layout/HexagonTimeline"/>
    <dgm:cxn modelId="{BC99F1E9-ACE9-41FD-AC37-147FCE821B3C}" type="presParOf" srcId="{4F58C91C-FB1A-447A-97CF-21B61CB6E1BD}" destId="{7E84F1D4-186F-49B7-9436-D8EEB352F101}" srcOrd="4" destOrd="0" presId="urn:microsoft.com/office/officeart/2016/7/layout/HexagonTimeline"/>
    <dgm:cxn modelId="{6CA43468-05BD-4B1B-ADC8-18D8026EC811}" type="presParOf" srcId="{C8F25F9E-6B1C-40BE-81D8-31B97CE64E36}" destId="{CDDFF639-A5A5-4B69-9D4B-7FE3C8F95615}" srcOrd="1" destOrd="0" presId="urn:microsoft.com/office/officeart/2016/7/layout/HexagonTimeline"/>
    <dgm:cxn modelId="{D043AEC3-A601-49F4-B095-34EE667D9367}" type="presParOf" srcId="{C8F25F9E-6B1C-40BE-81D8-31B97CE64E36}" destId="{71AC6B0B-6C83-4151-BEC5-501A956E93A4}" srcOrd="2" destOrd="0" presId="urn:microsoft.com/office/officeart/2016/7/layout/HexagonTimeline"/>
    <dgm:cxn modelId="{6EACA22A-4300-4EAB-9864-10E33DE0FA45}" type="presParOf" srcId="{71AC6B0B-6C83-4151-BEC5-501A956E93A4}" destId="{D7CFD748-515A-4C82-ABED-134EC9682E75}" srcOrd="0" destOrd="0" presId="urn:microsoft.com/office/officeart/2016/7/layout/HexagonTimeline"/>
    <dgm:cxn modelId="{FB00FDD9-1686-4300-A512-09C689087A8B}" type="presParOf" srcId="{71AC6B0B-6C83-4151-BEC5-501A956E93A4}" destId="{B94D21D0-2A8F-4CEE-A05D-23DA38BFDEB1}" srcOrd="1" destOrd="0" presId="urn:microsoft.com/office/officeart/2016/7/layout/HexagonTimeline"/>
    <dgm:cxn modelId="{3622ADB9-4F2F-4A2E-9CD8-8EDEB5B3545F}" type="presParOf" srcId="{71AC6B0B-6C83-4151-BEC5-501A956E93A4}" destId="{45DC5BF2-7EA5-421C-9F58-176ED56B0D8F}" srcOrd="2" destOrd="0" presId="urn:microsoft.com/office/officeart/2016/7/layout/HexagonTimeline"/>
    <dgm:cxn modelId="{8A19B20A-8245-4E67-BA7D-47F784F01DFD}" type="presParOf" srcId="{71AC6B0B-6C83-4151-BEC5-501A956E93A4}" destId="{C8B05CFD-58BC-4D28-A026-D2CDA45CA1B7}" srcOrd="3" destOrd="0" presId="urn:microsoft.com/office/officeart/2016/7/layout/HexagonTimeline"/>
    <dgm:cxn modelId="{A6B320BD-E957-45D9-8D8E-88C392494498}" type="presParOf" srcId="{71AC6B0B-6C83-4151-BEC5-501A956E93A4}" destId="{0CC7D028-53D6-4C76-900C-964A0062F777}"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CCE6F8-4341-4646-A084-F3DC31275922}">
      <dsp:nvSpPr>
        <dsp:cNvPr id="0" name=""/>
        <dsp:cNvSpPr/>
      </dsp:nvSpPr>
      <dsp:spPr>
        <a:xfrm>
          <a:off x="783560" y="2023428"/>
          <a:ext cx="4029741" cy="551844"/>
        </a:xfrm>
        <a:prstGeom prst="homePlate">
          <a:avLst>
            <a:gd name="adj" fmla="val 4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844550">
            <a:lnSpc>
              <a:spcPct val="90000"/>
            </a:lnSpc>
            <a:spcBef>
              <a:spcPct val="0"/>
            </a:spcBef>
            <a:spcAft>
              <a:spcPct val="35000"/>
            </a:spcAft>
            <a:buNone/>
          </a:pPr>
          <a:r>
            <a:rPr lang="en-US" sz="1900" b="1" kern="1200" dirty="0"/>
            <a:t>NetBeans IDE</a:t>
          </a:r>
        </a:p>
      </dsp:txBody>
      <dsp:txXfrm>
        <a:off x="783560" y="2023428"/>
        <a:ext cx="3919372" cy="551844"/>
      </dsp:txXfrm>
    </dsp:sp>
    <dsp:sp modelId="{D71B0C25-D16A-4FA5-B934-11CB1F2F3DC3}">
      <dsp:nvSpPr>
        <dsp:cNvPr id="0" name=""/>
        <dsp:cNvSpPr/>
      </dsp:nvSpPr>
      <dsp:spPr>
        <a:xfrm>
          <a:off x="0" y="0"/>
          <a:ext cx="5596862" cy="1471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b" anchorCtr="1">
          <a:noAutofit/>
        </a:bodyPr>
        <a:lstStyle/>
        <a:p>
          <a:pPr marL="0" lvl="0" indent="0" algn="ctr" defTabSz="711200">
            <a:lnSpc>
              <a:spcPct val="90000"/>
            </a:lnSpc>
            <a:spcBef>
              <a:spcPct val="0"/>
            </a:spcBef>
            <a:spcAft>
              <a:spcPct val="35000"/>
            </a:spcAft>
            <a:buNone/>
          </a:pPr>
          <a:r>
            <a:rPr lang="en-US" sz="1600" b="1" i="0" kern="1200" dirty="0"/>
            <a:t>NetBeans is an </a:t>
          </a:r>
          <a:r>
            <a:rPr lang="en-US" sz="1600" b="1" i="0" kern="1200" dirty="0">
              <a:hlinkClick xmlns:r="http://schemas.openxmlformats.org/officeDocument/2006/relationships" r:id="rId1" tooltip="Integrated development environment">
                <a:extLst>
                  <a:ext uri="{A12FA001-AC4F-418D-AE19-62706E023703}">
                    <ahyp:hlinkClr xmlns:ahyp="http://schemas.microsoft.com/office/drawing/2018/hyperlinkcolor" val="tx"/>
                  </a:ext>
                </a:extLst>
              </a:hlinkClick>
            </a:rPr>
            <a:t>integrated development environment</a:t>
          </a:r>
          <a:r>
            <a:rPr lang="en-US" sz="1600" b="1" i="0" kern="1200" dirty="0"/>
            <a:t> (IDE) for </a:t>
          </a:r>
          <a:r>
            <a:rPr lang="en-US" sz="1600" b="1" i="0" kern="1200" dirty="0">
              <a:hlinkClick xmlns:r="http://schemas.openxmlformats.org/officeDocument/2006/relationships" r:id="rId2" tooltip="Java (programming language)">
                <a:extLst>
                  <a:ext uri="{A12FA001-AC4F-418D-AE19-62706E023703}">
                    <ahyp:hlinkClr xmlns:ahyp="http://schemas.microsoft.com/office/drawing/2018/hyperlinkcolor" val="tx"/>
                  </a:ext>
                </a:extLst>
              </a:hlinkClick>
            </a:rPr>
            <a:t>Java</a:t>
          </a:r>
          <a:r>
            <a:rPr lang="en-US" sz="1600" b="1" i="0" kern="1200" dirty="0"/>
            <a:t>. </a:t>
          </a:r>
        </a:p>
        <a:p>
          <a:pPr marL="0" lvl="0" indent="0" algn="ctr" defTabSz="711200">
            <a:lnSpc>
              <a:spcPct val="90000"/>
            </a:lnSpc>
            <a:spcBef>
              <a:spcPct val="0"/>
            </a:spcBef>
            <a:spcAft>
              <a:spcPct val="35000"/>
            </a:spcAft>
            <a:buNone/>
          </a:pPr>
          <a:r>
            <a:rPr lang="en-US" sz="1600" b="1" i="0" kern="1200" dirty="0"/>
            <a:t>NetBeans allows applications to be developed from a set of modular </a:t>
          </a:r>
          <a:r>
            <a:rPr lang="en-US" sz="1600" b="1" i="0" kern="1200" dirty="0">
              <a:hlinkClick xmlns:r="http://schemas.openxmlformats.org/officeDocument/2006/relationships" r:id="rId3" tooltip="Software component">
                <a:extLst>
                  <a:ext uri="{A12FA001-AC4F-418D-AE19-62706E023703}">
                    <ahyp:hlinkClr xmlns:ahyp="http://schemas.microsoft.com/office/drawing/2018/hyperlinkcolor" val="tx"/>
                  </a:ext>
                </a:extLst>
              </a:hlinkClick>
            </a:rPr>
            <a:t>software components</a:t>
          </a:r>
          <a:r>
            <a:rPr lang="en-US" sz="1600" b="1" i="0" kern="1200" dirty="0"/>
            <a:t> called </a:t>
          </a:r>
          <a:r>
            <a:rPr lang="en-US" sz="1600" b="1" i="1" kern="1200" dirty="0"/>
            <a:t>modules. We will use</a:t>
          </a:r>
          <a:r>
            <a:rPr lang="en-US" sz="1600" b="1" kern="1200" dirty="0"/>
            <a:t> inbuilt Java Web Application</a:t>
          </a:r>
        </a:p>
      </dsp:txBody>
      <dsp:txXfrm>
        <a:off x="0" y="0"/>
        <a:ext cx="5596862" cy="1471584"/>
      </dsp:txXfrm>
    </dsp:sp>
    <dsp:sp modelId="{CDDFF639-A5A5-4B69-9D4B-7FE3C8F95615}">
      <dsp:nvSpPr>
        <dsp:cNvPr id="0" name=""/>
        <dsp:cNvSpPr/>
      </dsp:nvSpPr>
      <dsp:spPr>
        <a:xfrm>
          <a:off x="4813301" y="2299350"/>
          <a:ext cx="1567121" cy="0"/>
        </a:xfrm>
        <a:custGeom>
          <a:avLst/>
          <a:gdLst/>
          <a:ahLst/>
          <a:cxnLst/>
          <a:rect l="0" t="0" r="0" b="0"/>
          <a:pathLst>
            <a:path>
              <a:moveTo>
                <a:pt x="0" y="0"/>
              </a:moveTo>
              <a:lnTo>
                <a:pt x="1567121" y="0"/>
              </a:lnTo>
            </a:path>
          </a:pathLst>
        </a:custGeom>
        <a:noFill/>
        <a:ln w="12700" cap="rnd" cmpd="sng" algn="ctr">
          <a:solidFill>
            <a:schemeClr val="accent3">
              <a:hueOff val="0"/>
              <a:satOff val="0"/>
              <a:lumOff val="0"/>
              <a:alphaOff val="0"/>
            </a:schemeClr>
          </a:solidFill>
          <a:prstDash val="solid"/>
        </a:ln>
        <a:effectLst>
          <a:outerShdw blurRad="38100" dist="25400" dir="5400000" rotWithShape="0">
            <a:srgbClr val="000000">
              <a:alpha val="5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F192616-A69A-44BA-A0BB-1FEC56024EF1}">
      <dsp:nvSpPr>
        <dsp:cNvPr id="0" name=""/>
        <dsp:cNvSpPr/>
      </dsp:nvSpPr>
      <dsp:spPr>
        <a:xfrm>
          <a:off x="2798431" y="1563558"/>
          <a:ext cx="0" cy="459870"/>
        </a:xfrm>
        <a:prstGeom prst="line">
          <a:avLst/>
        </a:prstGeom>
        <a:noFill/>
        <a:ln w="12700" cap="rnd" cmpd="sng" algn="ctr">
          <a:solidFill>
            <a:schemeClr val="accent3">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C72818FE-5426-47CF-8217-593D962B2816}">
      <dsp:nvSpPr>
        <dsp:cNvPr id="0" name=""/>
        <dsp:cNvSpPr/>
      </dsp:nvSpPr>
      <dsp:spPr>
        <a:xfrm>
          <a:off x="2752444" y="1471584"/>
          <a:ext cx="91974" cy="91974"/>
        </a:xfrm>
        <a:prstGeom prst="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7CFD748-515A-4C82-ABED-134EC9682E75}">
      <dsp:nvSpPr>
        <dsp:cNvPr id="0" name=""/>
        <dsp:cNvSpPr/>
      </dsp:nvSpPr>
      <dsp:spPr>
        <a:xfrm rot="10800000">
          <a:off x="6380423" y="2023428"/>
          <a:ext cx="4029741" cy="551844"/>
        </a:xfrm>
        <a:prstGeom prst="homePlate">
          <a:avLst>
            <a:gd name="adj" fmla="val 4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844550">
            <a:lnSpc>
              <a:spcPct val="90000"/>
            </a:lnSpc>
            <a:spcBef>
              <a:spcPct val="0"/>
            </a:spcBef>
            <a:spcAft>
              <a:spcPct val="35000"/>
            </a:spcAft>
            <a:buNone/>
          </a:pPr>
          <a:r>
            <a:rPr lang="en-US" sz="1900" b="1" kern="1200" dirty="0"/>
            <a:t>WampServer MySQL Database</a:t>
          </a:r>
        </a:p>
      </dsp:txBody>
      <dsp:txXfrm rot="10800000">
        <a:off x="6490792" y="2023428"/>
        <a:ext cx="3919372" cy="551844"/>
      </dsp:txXfrm>
    </dsp:sp>
    <dsp:sp modelId="{B94D21D0-2A8F-4CEE-A05D-23DA38BFDEB1}">
      <dsp:nvSpPr>
        <dsp:cNvPr id="0" name=""/>
        <dsp:cNvSpPr/>
      </dsp:nvSpPr>
      <dsp:spPr>
        <a:xfrm>
          <a:off x="5596862" y="3127116"/>
          <a:ext cx="5596862" cy="1471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t" anchorCtr="1">
          <a:noAutofit/>
        </a:bodyPr>
        <a:lstStyle/>
        <a:p>
          <a:pPr marL="0" lvl="0" indent="0" algn="ctr" defTabSz="711200">
            <a:lnSpc>
              <a:spcPct val="90000"/>
            </a:lnSpc>
            <a:spcBef>
              <a:spcPct val="0"/>
            </a:spcBef>
            <a:spcAft>
              <a:spcPct val="35000"/>
            </a:spcAft>
            <a:buNone/>
          </a:pPr>
          <a:r>
            <a:rPr lang="en-US" sz="1600" b="1" i="0" kern="1200" dirty="0"/>
            <a:t>MySQL is an open-source relational database management system.</a:t>
          </a:r>
          <a:r>
            <a:rPr lang="en-US" sz="1600" b="1" kern="1200" dirty="0"/>
            <a:t> </a:t>
          </a:r>
          <a:r>
            <a:rPr lang="en-US" sz="1600" b="1" i="0" kern="1200" dirty="0"/>
            <a:t>With PHP, you can connect to and manipulate databases.</a:t>
          </a:r>
          <a:endParaRPr lang="en-US" sz="1600" b="1" kern="1200" dirty="0"/>
        </a:p>
        <a:p>
          <a:pPr marL="0" lvl="0" indent="0" algn="ctr" defTabSz="711200">
            <a:lnSpc>
              <a:spcPct val="90000"/>
            </a:lnSpc>
            <a:spcBef>
              <a:spcPct val="0"/>
            </a:spcBef>
            <a:spcAft>
              <a:spcPct val="35000"/>
            </a:spcAft>
            <a:buNone/>
          </a:pPr>
          <a:r>
            <a:rPr lang="en-US" sz="1600" b="1" i="0" kern="1200" dirty="0"/>
            <a:t>MySQL is the most popular database system used with PHP.</a:t>
          </a:r>
        </a:p>
        <a:p>
          <a:pPr marL="0" lvl="0" indent="0" algn="ctr" defTabSz="711200">
            <a:lnSpc>
              <a:spcPct val="90000"/>
            </a:lnSpc>
            <a:spcBef>
              <a:spcPct val="0"/>
            </a:spcBef>
            <a:spcAft>
              <a:spcPct val="35000"/>
            </a:spcAft>
            <a:buNone/>
          </a:pPr>
          <a:endParaRPr lang="en-IN" sz="1600" kern="1200" dirty="0"/>
        </a:p>
      </dsp:txBody>
      <dsp:txXfrm>
        <a:off x="5596862" y="3127116"/>
        <a:ext cx="5596862" cy="1471584"/>
      </dsp:txXfrm>
    </dsp:sp>
    <dsp:sp modelId="{45DC5BF2-7EA5-421C-9F58-176ED56B0D8F}">
      <dsp:nvSpPr>
        <dsp:cNvPr id="0" name=""/>
        <dsp:cNvSpPr/>
      </dsp:nvSpPr>
      <dsp:spPr>
        <a:xfrm>
          <a:off x="8395293" y="2575272"/>
          <a:ext cx="0" cy="459870"/>
        </a:xfrm>
        <a:prstGeom prst="line">
          <a:avLst/>
        </a:prstGeom>
        <a:noFill/>
        <a:ln w="12700" cap="rnd" cmpd="sng" algn="ctr">
          <a:solidFill>
            <a:schemeClr val="accent3">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C8B05CFD-58BC-4D28-A026-D2CDA45CA1B7}">
      <dsp:nvSpPr>
        <dsp:cNvPr id="0" name=""/>
        <dsp:cNvSpPr/>
      </dsp:nvSpPr>
      <dsp:spPr>
        <a:xfrm>
          <a:off x="8349306" y="3035142"/>
          <a:ext cx="91974" cy="91974"/>
        </a:xfrm>
        <a:prstGeom prst="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12/8/2020</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9133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12/8/2020</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11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12/8/2020</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9386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599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071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814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7817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12/8/2020</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28855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12/8/2020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9146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3977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12/8/2020</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368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12/8/2020</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97890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30" name="Rectangle 29">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1FC5398-C628-478A-822A-BE6CBC51559B}"/>
              </a:ext>
            </a:extLst>
          </p:cNvPr>
          <p:cNvSpPr>
            <a:spLocks noGrp="1"/>
          </p:cNvSpPr>
          <p:nvPr>
            <p:ph type="ctrTitle"/>
          </p:nvPr>
        </p:nvSpPr>
        <p:spPr>
          <a:xfrm>
            <a:off x="6994199" y="2482228"/>
            <a:ext cx="4691254" cy="1209074"/>
          </a:xfrm>
        </p:spPr>
        <p:txBody>
          <a:bodyPr anchor="ctr">
            <a:normAutofit/>
          </a:bodyPr>
          <a:lstStyle/>
          <a:p>
            <a:r>
              <a:rPr lang="en-US" dirty="0">
                <a:solidFill>
                  <a:schemeClr val="tx1"/>
                </a:solidFill>
              </a:rPr>
              <a:t>The banking</a:t>
            </a:r>
            <a:br>
              <a:rPr lang="en-US" dirty="0">
                <a:solidFill>
                  <a:schemeClr val="tx1"/>
                </a:solidFill>
              </a:rPr>
            </a:br>
            <a:r>
              <a:rPr lang="en-US" dirty="0">
                <a:solidFill>
                  <a:schemeClr val="tx1"/>
                </a:solidFill>
              </a:rPr>
              <a:t>System</a:t>
            </a:r>
          </a:p>
        </p:txBody>
      </p:sp>
      <p:sp>
        <p:nvSpPr>
          <p:cNvPr id="3" name="Subtitle 2">
            <a:extLst>
              <a:ext uri="{FF2B5EF4-FFF2-40B4-BE49-F238E27FC236}">
                <a16:creationId xmlns:a16="http://schemas.microsoft.com/office/drawing/2014/main" id="{07730D41-D3A4-4CFC-91DC-62E6A5AE503B}"/>
              </a:ext>
            </a:extLst>
          </p:cNvPr>
          <p:cNvSpPr>
            <a:spLocks noGrp="1"/>
          </p:cNvSpPr>
          <p:nvPr>
            <p:ph type="subTitle" idx="1"/>
          </p:nvPr>
        </p:nvSpPr>
        <p:spPr>
          <a:xfrm>
            <a:off x="9055589" y="3966544"/>
            <a:ext cx="3511233" cy="1866085"/>
          </a:xfrm>
        </p:spPr>
        <p:txBody>
          <a:bodyPr anchor="t">
            <a:normAutofit lnSpcReduction="10000"/>
          </a:bodyPr>
          <a:lstStyle/>
          <a:p>
            <a:r>
              <a:rPr lang="en-US" sz="2000" b="1" dirty="0"/>
              <a:t>Presented by-</a:t>
            </a:r>
          </a:p>
          <a:p>
            <a:r>
              <a:rPr lang="en-US" sz="2000" b="1" dirty="0"/>
              <a:t>Kaustubh R Srivastav</a:t>
            </a:r>
          </a:p>
          <a:p>
            <a:r>
              <a:rPr lang="en-US" sz="2000" b="1" dirty="0"/>
              <a:t>Krati Srivastav</a:t>
            </a:r>
          </a:p>
          <a:p>
            <a:r>
              <a:rPr lang="en-US" sz="2000" b="1" dirty="0"/>
              <a:t>Kuldeep Singh</a:t>
            </a:r>
          </a:p>
          <a:p>
            <a:endParaRPr lang="en-US" sz="2000" b="1" dirty="0"/>
          </a:p>
          <a:p>
            <a:endParaRPr lang="en-US" sz="2000" b="1" dirty="0"/>
          </a:p>
        </p:txBody>
      </p:sp>
      <p:sp>
        <p:nvSpPr>
          <p:cNvPr id="32" name="Rectangle 31">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235"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7" name="Picture 6">
            <a:extLst>
              <a:ext uri="{FF2B5EF4-FFF2-40B4-BE49-F238E27FC236}">
                <a16:creationId xmlns:a16="http://schemas.microsoft.com/office/drawing/2014/main" id="{95AE3CD0-AA6F-48A9-B651-CB327C06415D}"/>
              </a:ext>
            </a:extLst>
          </p:cNvPr>
          <p:cNvPicPr>
            <a:picLocks noChangeAspect="1"/>
          </p:cNvPicPr>
          <p:nvPr/>
        </p:nvPicPr>
        <p:blipFill>
          <a:blip r:embed="rId3"/>
          <a:stretch>
            <a:fillRect/>
          </a:stretch>
        </p:blipFill>
        <p:spPr>
          <a:xfrm>
            <a:off x="336815" y="253014"/>
            <a:ext cx="6490113" cy="5579615"/>
          </a:xfrm>
          <a:prstGeom prst="rect">
            <a:avLst/>
          </a:prstGeom>
        </p:spPr>
      </p:pic>
      <p:pic>
        <p:nvPicPr>
          <p:cNvPr id="1026" name="Picture 2">
            <a:extLst>
              <a:ext uri="{FF2B5EF4-FFF2-40B4-BE49-F238E27FC236}">
                <a16:creationId xmlns:a16="http://schemas.microsoft.com/office/drawing/2014/main" id="{675FA3AE-3E02-4D93-A3EA-26CF885932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3743" y="577888"/>
            <a:ext cx="4691255" cy="19726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22C4C22-9796-4677-AE48-C1743A8F1644}"/>
              </a:ext>
            </a:extLst>
          </p:cNvPr>
          <p:cNvSpPr txBox="1"/>
          <p:nvPr/>
        </p:nvSpPr>
        <p:spPr>
          <a:xfrm>
            <a:off x="336815" y="6067915"/>
            <a:ext cx="6135006" cy="523220"/>
          </a:xfrm>
          <a:prstGeom prst="rect">
            <a:avLst/>
          </a:prstGeom>
          <a:noFill/>
        </p:spPr>
        <p:txBody>
          <a:bodyPr wrap="square" rtlCol="0">
            <a:spAutoFit/>
          </a:bodyPr>
          <a:lstStyle/>
          <a:p>
            <a:r>
              <a:rPr lang="en-US" sz="2800" b="1" dirty="0"/>
              <a:t>Under Prof. Deepti Singh</a:t>
            </a:r>
            <a:endParaRPr lang="en-IN" sz="2800" b="1" dirty="0"/>
          </a:p>
        </p:txBody>
      </p:sp>
    </p:spTree>
    <p:extLst>
      <p:ext uri="{BB962C8B-B14F-4D97-AF65-F5344CB8AC3E}">
        <p14:creationId xmlns:p14="http://schemas.microsoft.com/office/powerpoint/2010/main" val="6748736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2AE3-4B77-47AA-9089-AF9A11596FB5}"/>
              </a:ext>
            </a:extLst>
          </p:cNvPr>
          <p:cNvSpPr>
            <a:spLocks noGrp="1"/>
          </p:cNvSpPr>
          <p:nvPr>
            <p:ph type="title"/>
          </p:nvPr>
        </p:nvSpPr>
        <p:spPr/>
        <p:txBody>
          <a:bodyPr/>
          <a:lstStyle/>
          <a:p>
            <a:r>
              <a:rPr lang="en-US" dirty="0"/>
              <a:t>Programming &amp; Scripting Languages used:</a:t>
            </a:r>
            <a:endParaRPr lang="en-IN" dirty="0"/>
          </a:p>
        </p:txBody>
      </p:sp>
      <p:sp>
        <p:nvSpPr>
          <p:cNvPr id="3" name="Content Placeholder 2">
            <a:extLst>
              <a:ext uri="{FF2B5EF4-FFF2-40B4-BE49-F238E27FC236}">
                <a16:creationId xmlns:a16="http://schemas.microsoft.com/office/drawing/2014/main" id="{6C9A878D-085E-484A-9EE1-7F4F0FB799FF}"/>
              </a:ext>
            </a:extLst>
          </p:cNvPr>
          <p:cNvSpPr>
            <a:spLocks noGrp="1"/>
          </p:cNvSpPr>
          <p:nvPr>
            <p:ph idx="1"/>
          </p:nvPr>
        </p:nvSpPr>
        <p:spPr>
          <a:xfrm>
            <a:off x="581193" y="2086252"/>
            <a:ext cx="3404882" cy="3151573"/>
          </a:xfrm>
        </p:spPr>
        <p:txBody>
          <a:bodyPr/>
          <a:lstStyle/>
          <a:p>
            <a:pPr>
              <a:buClr>
                <a:schemeClr val="accent2"/>
              </a:buClr>
              <a:buFont typeface="Wingdings" panose="05000000000000000000" pitchFamily="2" charset="2"/>
              <a:buChar char="v"/>
            </a:pPr>
            <a:r>
              <a:rPr lang="en-US" dirty="0"/>
              <a:t>JavaScript</a:t>
            </a:r>
          </a:p>
          <a:p>
            <a:pPr>
              <a:buClr>
                <a:schemeClr val="accent2"/>
              </a:buClr>
              <a:buFont typeface="Wingdings" panose="05000000000000000000" pitchFamily="2" charset="2"/>
              <a:buChar char="v"/>
            </a:pPr>
            <a:r>
              <a:rPr lang="en-US" dirty="0"/>
              <a:t>WampServer (MySQL for Database)</a:t>
            </a:r>
          </a:p>
          <a:p>
            <a:pPr>
              <a:buClr>
                <a:schemeClr val="accent2"/>
              </a:buClr>
              <a:buFont typeface="Wingdings" panose="05000000000000000000" pitchFamily="2" charset="2"/>
              <a:buChar char="v"/>
            </a:pPr>
            <a:endParaRPr lang="en-US" dirty="0"/>
          </a:p>
          <a:p>
            <a:pPr>
              <a:buClr>
                <a:schemeClr val="accent2"/>
              </a:buClr>
              <a:buFont typeface="Wingdings" panose="05000000000000000000" pitchFamily="2" charset="2"/>
              <a:buChar char="v"/>
            </a:pPr>
            <a:endParaRPr lang="en-US" dirty="0"/>
          </a:p>
          <a:p>
            <a:pPr>
              <a:buClr>
                <a:schemeClr val="accent2"/>
              </a:buClr>
              <a:buFont typeface="Wingdings" panose="05000000000000000000" pitchFamily="2" charset="2"/>
              <a:buChar char="v"/>
            </a:pPr>
            <a:endParaRPr lang="en-US" dirty="0"/>
          </a:p>
          <a:p>
            <a:pPr>
              <a:buClr>
                <a:schemeClr val="accent2"/>
              </a:buClr>
              <a:buFont typeface="Wingdings" panose="05000000000000000000" pitchFamily="2" charset="2"/>
              <a:buChar char="v"/>
            </a:pPr>
            <a:endParaRPr lang="en-IN" dirty="0"/>
          </a:p>
        </p:txBody>
      </p:sp>
      <p:pic>
        <p:nvPicPr>
          <p:cNvPr id="1028" name="Picture 4">
            <a:extLst>
              <a:ext uri="{FF2B5EF4-FFF2-40B4-BE49-F238E27FC236}">
                <a16:creationId xmlns:a16="http://schemas.microsoft.com/office/drawing/2014/main" id="{472DD5E0-7AA5-4699-B6CD-DA696C788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5325" y="3826274"/>
            <a:ext cx="2476869" cy="2823100"/>
          </a:xfrm>
          <a:prstGeom prst="rect">
            <a:avLst/>
          </a:prstGeom>
          <a:noFill/>
          <a:extLst>
            <a:ext uri="{909E8E84-426E-40DD-AFC4-6F175D3DCCD1}">
              <a14:hiddenFill xmlns:a14="http://schemas.microsoft.com/office/drawing/2010/main">
                <a:solidFill>
                  <a:srgbClr val="FFFFFF"/>
                </a:solidFill>
              </a14:hiddenFill>
            </a:ext>
          </a:extLst>
        </p:spPr>
      </p:pic>
      <p:sp>
        <p:nvSpPr>
          <p:cNvPr id="4" name="Plus Sign 3">
            <a:extLst>
              <a:ext uri="{FF2B5EF4-FFF2-40B4-BE49-F238E27FC236}">
                <a16:creationId xmlns:a16="http://schemas.microsoft.com/office/drawing/2014/main" id="{D5B56C1C-8CE5-41EE-9CF4-79BC75CE11FB}"/>
              </a:ext>
            </a:extLst>
          </p:cNvPr>
          <p:cNvSpPr/>
          <p:nvPr/>
        </p:nvSpPr>
        <p:spPr>
          <a:xfrm>
            <a:off x="7815308" y="4927397"/>
            <a:ext cx="798990" cy="620855"/>
          </a:xfrm>
          <a:prstGeom prst="mathPlus">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pic>
        <p:nvPicPr>
          <p:cNvPr id="3074" name="Picture 2">
            <a:extLst>
              <a:ext uri="{FF2B5EF4-FFF2-40B4-BE49-F238E27FC236}">
                <a16:creationId xmlns:a16="http://schemas.microsoft.com/office/drawing/2014/main" id="{A53527FB-A294-4C0B-93B1-31469E207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963" y="3886337"/>
            <a:ext cx="2674028" cy="2763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8063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0EC9-7E7D-4648-AC38-2A7BCBFB2EF6}"/>
              </a:ext>
            </a:extLst>
          </p:cNvPr>
          <p:cNvSpPr>
            <a:spLocks noGrp="1"/>
          </p:cNvSpPr>
          <p:nvPr>
            <p:ph type="title"/>
          </p:nvPr>
        </p:nvSpPr>
        <p:spPr>
          <a:xfrm>
            <a:off x="581192" y="702156"/>
            <a:ext cx="11029616" cy="1188720"/>
          </a:xfrm>
        </p:spPr>
        <p:txBody>
          <a:bodyPr>
            <a:normAutofit/>
          </a:bodyPr>
          <a:lstStyle/>
          <a:p>
            <a:r>
              <a:rPr lang="en-US" sz="3600" dirty="0">
                <a:solidFill>
                  <a:schemeClr val="tx1">
                    <a:lumMod val="85000"/>
                    <a:lumOff val="15000"/>
                  </a:schemeClr>
                </a:solidFill>
              </a:rPr>
              <a:t>Tools to be used</a:t>
            </a:r>
          </a:p>
        </p:txBody>
      </p:sp>
      <p:graphicFrame>
        <p:nvGraphicFramePr>
          <p:cNvPr id="22" name="Content Placeholder 2" descr="SmartArt timeline">
            <a:extLst>
              <a:ext uri="{FF2B5EF4-FFF2-40B4-BE49-F238E27FC236}">
                <a16:creationId xmlns:a16="http://schemas.microsoft.com/office/drawing/2014/main" id="{6BF0F168-BD28-497A-AC13-24AB8C638291}"/>
              </a:ext>
            </a:extLst>
          </p:cNvPr>
          <p:cNvGraphicFramePr/>
          <p:nvPr>
            <p:extLst>
              <p:ext uri="{D42A27DB-BD31-4B8C-83A1-F6EECF244321}">
                <p14:modId xmlns:p14="http://schemas.microsoft.com/office/powerpoint/2010/main" val="6601237"/>
              </p:ext>
            </p:extLst>
          </p:nvPr>
        </p:nvGraphicFramePr>
        <p:xfrm>
          <a:off x="417250" y="1890876"/>
          <a:ext cx="11193725" cy="45987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iKzAAAAABJRU5ErkJggg== (351×143)">
            <a:extLst>
              <a:ext uri="{FF2B5EF4-FFF2-40B4-BE49-F238E27FC236}">
                <a16:creationId xmlns:a16="http://schemas.microsoft.com/office/drawing/2014/main" id="{27816368-7EE7-4408-ACED-DA1CA52438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4304" y="4751601"/>
            <a:ext cx="3067697" cy="124980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3D64E98-1225-444A-B755-A3A998BFCB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05311" y="1890876"/>
            <a:ext cx="2070717" cy="1783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948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56A4-5827-443A-92D3-A85E9140B217}"/>
              </a:ext>
            </a:extLst>
          </p:cNvPr>
          <p:cNvSpPr>
            <a:spLocks noGrp="1"/>
          </p:cNvSpPr>
          <p:nvPr>
            <p:ph type="title"/>
          </p:nvPr>
        </p:nvSpPr>
        <p:spPr>
          <a:xfrm>
            <a:off x="581192" y="702156"/>
            <a:ext cx="11029616" cy="957968"/>
          </a:xfrm>
        </p:spPr>
        <p:txBody>
          <a:bodyPr/>
          <a:lstStyle/>
          <a:p>
            <a:r>
              <a:rPr lang="en-US" dirty="0"/>
              <a:t>Features of our project</a:t>
            </a:r>
            <a:endParaRPr lang="en-IN" dirty="0"/>
          </a:p>
        </p:txBody>
      </p:sp>
      <p:sp>
        <p:nvSpPr>
          <p:cNvPr id="4" name="TextBox 3">
            <a:extLst>
              <a:ext uri="{FF2B5EF4-FFF2-40B4-BE49-F238E27FC236}">
                <a16:creationId xmlns:a16="http://schemas.microsoft.com/office/drawing/2014/main" id="{1865AB49-BB86-4047-9E08-16425A62B27F}"/>
              </a:ext>
            </a:extLst>
          </p:cNvPr>
          <p:cNvSpPr txBox="1"/>
          <p:nvPr/>
        </p:nvSpPr>
        <p:spPr>
          <a:xfrm>
            <a:off x="6095999" y="1181140"/>
            <a:ext cx="4863778" cy="830997"/>
          </a:xfrm>
          <a:prstGeom prst="rect">
            <a:avLst/>
          </a:prstGeom>
          <a:ln>
            <a:noFill/>
          </a:ln>
          <a:effectLst>
            <a:outerShdw blurRad="127000" dist="38100" dir="2700000" algn="ctr">
              <a:srgbClr val="000000">
                <a:alpha val="45000"/>
              </a:srgbClr>
            </a:outerShdw>
            <a:reflection blurRad="6350" stA="50000" endA="300" endPos="90000" dir="5400000" sy="-100000" algn="bl" rotWithShape="0"/>
          </a:effectLst>
          <a:scene3d>
            <a:camera prst="perspectiveFront" fov="2700000">
              <a:rot lat="20376000" lon="1938000" rev="20112001"/>
            </a:camera>
            <a:lightRig rig="soft" dir="tl">
              <a:rot lat="0" lon="0" rev="0"/>
            </a:lightRig>
          </a:scene3d>
          <a:sp3d prstMaterial="translucentPowder">
            <a:bevelT w="203200" h="50800" prst="softRound"/>
          </a:sp3d>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dirty="0">
                <a:solidFill>
                  <a:schemeClr val="tx1"/>
                </a:solidFill>
              </a:rPr>
              <a:t>Lets head to the outline project to give a better understanding.</a:t>
            </a:r>
            <a:endParaRPr lang="en-IN" sz="2400" dirty="0">
              <a:solidFill>
                <a:schemeClr val="tx1"/>
              </a:solidFill>
            </a:endParaRPr>
          </a:p>
        </p:txBody>
      </p:sp>
      <p:sp>
        <p:nvSpPr>
          <p:cNvPr id="3" name="Content Placeholder 2">
            <a:extLst>
              <a:ext uri="{FF2B5EF4-FFF2-40B4-BE49-F238E27FC236}">
                <a16:creationId xmlns:a16="http://schemas.microsoft.com/office/drawing/2014/main" id="{91B9E292-D7FA-4C24-8345-5D41160A250B}"/>
              </a:ext>
            </a:extLst>
          </p:cNvPr>
          <p:cNvSpPr>
            <a:spLocks noGrp="1"/>
          </p:cNvSpPr>
          <p:nvPr>
            <p:ph idx="1"/>
          </p:nvPr>
        </p:nvSpPr>
        <p:spPr>
          <a:xfrm>
            <a:off x="581192" y="1660124"/>
            <a:ext cx="11029615" cy="4385569"/>
          </a:xfrm>
        </p:spPr>
        <p:txBody>
          <a:bodyPr>
            <a:normAutofit/>
          </a:bodyPr>
          <a:lstStyle/>
          <a:p>
            <a:pPr marL="0" indent="0">
              <a:buClr>
                <a:schemeClr val="accent2"/>
              </a:buClr>
              <a:buNone/>
            </a:pPr>
            <a:r>
              <a:rPr lang="en-US" dirty="0"/>
              <a:t>Our project is capable of preforming following tasks:-</a:t>
            </a:r>
          </a:p>
          <a:p>
            <a:pPr>
              <a:buClr>
                <a:schemeClr val="accent2"/>
              </a:buClr>
              <a:buFont typeface="Wingdings" panose="05000000000000000000" pitchFamily="2" charset="2"/>
              <a:buChar char="v"/>
            </a:pPr>
            <a:r>
              <a:rPr lang="en-IN" dirty="0"/>
              <a:t>Account Creation</a:t>
            </a:r>
          </a:p>
          <a:p>
            <a:pPr>
              <a:buClr>
                <a:schemeClr val="accent2"/>
              </a:buClr>
              <a:buFont typeface="Wingdings" panose="05000000000000000000" pitchFamily="2" charset="2"/>
              <a:buChar char="v"/>
            </a:pPr>
            <a:r>
              <a:rPr lang="en-IN" dirty="0"/>
              <a:t>Connectivity to Bank Database</a:t>
            </a:r>
          </a:p>
          <a:p>
            <a:pPr>
              <a:buClr>
                <a:schemeClr val="accent2"/>
              </a:buClr>
              <a:buFont typeface="Wingdings" panose="05000000000000000000" pitchFamily="2" charset="2"/>
              <a:buChar char="v"/>
            </a:pPr>
            <a:r>
              <a:rPr lang="en-IN" dirty="0"/>
              <a:t>Profile Management for each Customer</a:t>
            </a:r>
          </a:p>
          <a:p>
            <a:pPr>
              <a:buClr>
                <a:schemeClr val="accent2"/>
              </a:buClr>
              <a:buFont typeface="Wingdings" panose="05000000000000000000" pitchFamily="2" charset="2"/>
              <a:buChar char="v"/>
            </a:pPr>
            <a:r>
              <a:rPr lang="en-IN" dirty="0"/>
              <a:t>Deposit and Transfer of Money</a:t>
            </a:r>
          </a:p>
          <a:p>
            <a:pPr>
              <a:buClr>
                <a:schemeClr val="accent2"/>
              </a:buClr>
              <a:buFont typeface="Wingdings" panose="05000000000000000000" pitchFamily="2" charset="2"/>
              <a:buChar char="v"/>
            </a:pPr>
            <a:r>
              <a:rPr lang="en-IN" dirty="0"/>
              <a:t>Transfer of Money to another bank account</a:t>
            </a:r>
          </a:p>
          <a:p>
            <a:pPr>
              <a:buClr>
                <a:schemeClr val="accent2"/>
              </a:buClr>
              <a:buFont typeface="Wingdings" panose="05000000000000000000" pitchFamily="2" charset="2"/>
              <a:buChar char="v"/>
            </a:pPr>
            <a:r>
              <a:rPr lang="en-IN" dirty="0"/>
              <a:t>Cash Withdrawal</a:t>
            </a:r>
          </a:p>
          <a:p>
            <a:pPr>
              <a:buClr>
                <a:schemeClr val="accent2"/>
              </a:buClr>
              <a:buFont typeface="Wingdings" panose="05000000000000000000" pitchFamily="2" charset="2"/>
              <a:buChar char="v"/>
            </a:pPr>
            <a:r>
              <a:rPr lang="en-IN" dirty="0"/>
              <a:t>Maintaining Transaction History</a:t>
            </a:r>
          </a:p>
          <a:p>
            <a:pPr>
              <a:buClr>
                <a:schemeClr val="accent2"/>
              </a:buClr>
              <a:buFont typeface="Wingdings" panose="05000000000000000000" pitchFamily="2" charset="2"/>
              <a:buChar char="v"/>
            </a:pPr>
            <a:r>
              <a:rPr lang="en-IN" dirty="0"/>
              <a:t>Pin Change and Balance Enquiry</a:t>
            </a:r>
          </a:p>
          <a:p>
            <a:pPr>
              <a:buClr>
                <a:srgbClr val="00B050"/>
              </a:buClr>
              <a:buFont typeface="Wingdings" panose="05000000000000000000" pitchFamily="2" charset="2"/>
              <a:buChar char="v"/>
            </a:pPr>
            <a:endParaRPr lang="en-IN" dirty="0"/>
          </a:p>
        </p:txBody>
      </p:sp>
      <p:pic>
        <p:nvPicPr>
          <p:cNvPr id="6" name="Picture 5">
            <a:extLst>
              <a:ext uri="{FF2B5EF4-FFF2-40B4-BE49-F238E27FC236}">
                <a16:creationId xmlns:a16="http://schemas.microsoft.com/office/drawing/2014/main" id="{190B2E1D-758C-49AC-8EE3-0C46EAE4BD5E}"/>
              </a:ext>
            </a:extLst>
          </p:cNvPr>
          <p:cNvPicPr>
            <a:picLocks noChangeAspect="1"/>
          </p:cNvPicPr>
          <p:nvPr/>
        </p:nvPicPr>
        <p:blipFill>
          <a:blip r:embed="rId2"/>
          <a:stretch>
            <a:fillRect/>
          </a:stretch>
        </p:blipFill>
        <p:spPr>
          <a:xfrm>
            <a:off x="6245734" y="2970105"/>
            <a:ext cx="4714043" cy="347604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286854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4125-7076-44DD-BC2A-997D40FB0248}"/>
              </a:ext>
            </a:extLst>
          </p:cNvPr>
          <p:cNvSpPr>
            <a:spLocks noGrp="1"/>
          </p:cNvSpPr>
          <p:nvPr>
            <p:ph type="title"/>
          </p:nvPr>
        </p:nvSpPr>
        <p:spPr>
          <a:xfrm>
            <a:off x="581192" y="702157"/>
            <a:ext cx="11029616" cy="851436"/>
          </a:xfrm>
        </p:spPr>
        <p:txBody>
          <a:bodyPr>
            <a:normAutofit/>
          </a:bodyPr>
          <a:lstStyle/>
          <a:p>
            <a:pPr algn="ctr"/>
            <a:r>
              <a:rPr lang="en-US" sz="3600" dirty="0"/>
              <a:t>That’s all Folks!!!</a:t>
            </a:r>
            <a:endParaRPr lang="en-IN" sz="3600" dirty="0"/>
          </a:p>
        </p:txBody>
      </p:sp>
      <p:pic>
        <p:nvPicPr>
          <p:cNvPr id="5" name="Picture 4">
            <a:extLst>
              <a:ext uri="{FF2B5EF4-FFF2-40B4-BE49-F238E27FC236}">
                <a16:creationId xmlns:a16="http://schemas.microsoft.com/office/drawing/2014/main" id="{5FE969F5-BE33-4311-A840-04E196E9591C}"/>
              </a:ext>
            </a:extLst>
          </p:cNvPr>
          <p:cNvPicPr>
            <a:picLocks noChangeAspect="1"/>
          </p:cNvPicPr>
          <p:nvPr/>
        </p:nvPicPr>
        <p:blipFill>
          <a:blip r:embed="rId2"/>
          <a:stretch>
            <a:fillRect/>
          </a:stretch>
        </p:blipFill>
        <p:spPr>
          <a:xfrm>
            <a:off x="1124505" y="1899821"/>
            <a:ext cx="9534618" cy="4122858"/>
          </a:xfrm>
          <a:prstGeom prst="rect">
            <a:avLst/>
          </a:prstGeom>
        </p:spPr>
      </p:pic>
    </p:spTree>
    <p:extLst>
      <p:ext uri="{BB962C8B-B14F-4D97-AF65-F5344CB8AC3E}">
        <p14:creationId xmlns:p14="http://schemas.microsoft.com/office/powerpoint/2010/main" val="4534683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DividendVTI">
  <a:themeElements>
    <a:clrScheme name="Aspect">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Override1.xml><?xml version="1.0" encoding="utf-8"?>
<a:themeOverride xmlns:a="http://schemas.openxmlformats.org/drawingml/2006/main">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themeOverride>
</file>

<file path=ppt/theme/themeOverride2.xml><?xml version="1.0" encoding="utf-8"?>
<a:themeOverride xmlns:a="http://schemas.openxmlformats.org/drawingml/2006/main">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455B2D-BAB7-438A-85DA-0266A24CB79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D8C6403A-684A-431F-8F36-A24C99E28661}">
  <ds:schemaRefs>
    <ds:schemaRef ds:uri="http://schemas.microsoft.com/sharepoint/v3/contenttype/forms"/>
  </ds:schemaRefs>
</ds:datastoreItem>
</file>

<file path=customXml/itemProps3.xml><?xml version="1.0" encoding="utf-8"?>
<ds:datastoreItem xmlns:ds="http://schemas.openxmlformats.org/officeDocument/2006/customXml" ds:itemID="{CDF95FD5-1F25-4FA5-84C8-2AB1AFB896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{7D234877-8A54-4D3F-A50E-B9A0702711A7}tf11964407_win32</Template>
  <TotalTime>234</TotalTime>
  <Words>168</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Franklin Gothic Book</vt:lpstr>
      <vt:lpstr>Franklin Gothic Demi</vt:lpstr>
      <vt:lpstr>Gill Sans MT</vt:lpstr>
      <vt:lpstr>Wingdings</vt:lpstr>
      <vt:lpstr>Wingdings 2</vt:lpstr>
      <vt:lpstr>DividendVTI</vt:lpstr>
      <vt:lpstr>The banking System</vt:lpstr>
      <vt:lpstr>Programming &amp; Scripting Languages used:</vt:lpstr>
      <vt:lpstr>Tools to be used</vt:lpstr>
      <vt:lpstr>Features of our project</vt:lpstr>
      <vt:lpstr>That’s all Folks!!!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banking System</dc:title>
  <dc:creator>Kaustubh R Srivastav</dc:creator>
  <cp:lastModifiedBy>Kaustubh R Srivastav</cp:lastModifiedBy>
  <cp:revision>61</cp:revision>
  <dcterms:created xsi:type="dcterms:W3CDTF">2020-10-11T12:43:52Z</dcterms:created>
  <dcterms:modified xsi:type="dcterms:W3CDTF">2020-12-08T16:37:17Z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